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21383625" cy="30275213"/>
  <p:notesSz cx="6858000" cy="9144000"/>
  <p:defaultTextStyle>
    <a:defPPr>
      <a:defRPr lang="en-GB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6735"/>
        <p:guide pos="9626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7593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980754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GB"/>
              <a:t>15/03/2026</a:t>
            </a:fld>
            <a:endParaRPr lang="en-GB"/>
          </a:p>
        </p:txBody>
      </p:sp>
      <p:sp>
        <p:nvSpPr>
          <p:cNvPr id="35807157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6703254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36466951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7463603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0015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2338388" y="1143000"/>
            <a:ext cx="2181225" cy="3086100"/>
          </a:xfrm>
        </p:spPr>
      </p:sp>
      <p:sp>
        <p:nvSpPr>
          <p:cNvPr id="52207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GB">
              <a:latin typeface="Arial"/>
              <a:cs typeface="Arial"/>
            </a:endParaRPr>
          </a:p>
        </p:txBody>
      </p:sp>
      <p:sp>
        <p:nvSpPr>
          <p:cNvPr id="815707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147250" name="Title 1"/>
          <p:cNvSpPr>
            <a:spLocks noGrp="1"/>
          </p:cNvSpPr>
          <p:nvPr>
            <p:ph type="ctrTitle"/>
          </p:nvPr>
        </p:nvSpPr>
        <p:spPr bwMode="auto">
          <a:xfrm>
            <a:off x="2673000" y="4954893"/>
            <a:ext cx="16037999" cy="10540533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352973088" name="Subtitle 2"/>
          <p:cNvSpPr>
            <a:spLocks noGrp="1"/>
          </p:cNvSpPr>
          <p:nvPr>
            <p:ph type="subTitle" idx="1"/>
          </p:nvPr>
        </p:nvSpPr>
        <p:spPr bwMode="auto">
          <a:xfrm>
            <a:off x="2673000" y="15901910"/>
            <a:ext cx="16037999" cy="73096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/>
          </a:p>
        </p:txBody>
      </p:sp>
      <p:sp>
        <p:nvSpPr>
          <p:cNvPr id="20489640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656814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622613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0286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4371496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8102700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5687128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451668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045128" name="Title 1"/>
          <p:cNvSpPr>
            <a:spLocks noGrp="1"/>
          </p:cNvSpPr>
          <p:nvPr>
            <p:ph type="title"/>
          </p:nvPr>
        </p:nvSpPr>
        <p:spPr bwMode="auto">
          <a:xfrm>
            <a:off x="1459012" y="7547977"/>
            <a:ext cx="18443700" cy="12593972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7550382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59012" y="20261092"/>
            <a:ext cx="18443700" cy="662287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5867784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4439647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135095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02038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79356487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1470150" y="8059583"/>
            <a:ext cx="9088200" cy="19209843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74971964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0825650" y="8059583"/>
            <a:ext cx="9088200" cy="19209843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4244301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202927104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602507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412485" name="Title 1"/>
          <p:cNvSpPr>
            <a:spLocks noGrp="1"/>
          </p:cNvSpPr>
          <p:nvPr>
            <p:ph type="title"/>
          </p:nvPr>
        </p:nvSpPr>
        <p:spPr bwMode="auto">
          <a:xfrm>
            <a:off x="1472935" y="1611916"/>
            <a:ext cx="18443700" cy="5851960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3657021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72935" y="7421827"/>
            <a:ext cx="9046433" cy="36373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2374956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1472935" y="11059150"/>
            <a:ext cx="9046433" cy="16266343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83745726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10825650" y="7421827"/>
            <a:ext cx="9090985" cy="36373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7595892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10825650" y="11059150"/>
            <a:ext cx="9090985" cy="16266343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73103244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38099345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03916146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92376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806415228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62759743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3812371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780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206807849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6220060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332787" name="Title 1"/>
          <p:cNvSpPr>
            <a:spLocks noGrp="1"/>
          </p:cNvSpPr>
          <p:nvPr>
            <p:ph type="title"/>
          </p:nvPr>
        </p:nvSpPr>
        <p:spPr bwMode="auto">
          <a:xfrm>
            <a:off x="1472935" y="2018400"/>
            <a:ext cx="6896895" cy="7064399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557356286" name="Content Placeholder 2"/>
          <p:cNvSpPr>
            <a:spLocks noGrp="1"/>
          </p:cNvSpPr>
          <p:nvPr>
            <p:ph idx="1"/>
          </p:nvPr>
        </p:nvSpPr>
        <p:spPr bwMode="auto">
          <a:xfrm>
            <a:off x="9090985" y="4359183"/>
            <a:ext cx="10825650" cy="21515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8384649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72935" y="9082800"/>
            <a:ext cx="6896895" cy="168270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9570935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22017241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171813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293793" name="Title 1"/>
          <p:cNvSpPr>
            <a:spLocks noGrp="1"/>
          </p:cNvSpPr>
          <p:nvPr>
            <p:ph type="title"/>
          </p:nvPr>
        </p:nvSpPr>
        <p:spPr bwMode="auto">
          <a:xfrm>
            <a:off x="1472935" y="2018400"/>
            <a:ext cx="6896895" cy="7064399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26754358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9090985" y="4359183"/>
            <a:ext cx="10825650" cy="2151558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/>
          </a:p>
        </p:txBody>
      </p:sp>
      <p:sp>
        <p:nvSpPr>
          <p:cNvPr id="11257730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472935" y="9082800"/>
            <a:ext cx="6896895" cy="168270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4923468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79152677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500948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50114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82375573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119650168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41466480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46110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163848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5302924" y="1611916"/>
            <a:ext cx="4610925" cy="25657510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26273232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1470150" y="1611916"/>
            <a:ext cx="13565474" cy="25657510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5956048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5163024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94973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52942" name="Title Placeholder 1"/>
          <p:cNvSpPr>
            <a:spLocks noGrp="1"/>
          </p:cNvSpPr>
          <p:nvPr>
            <p:ph type="title"/>
          </p:nvPr>
        </p:nvSpPr>
        <p:spPr bwMode="auto">
          <a:xfrm>
            <a:off x="1470150" y="1611916"/>
            <a:ext cx="18443700" cy="5851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/>
          </a:p>
        </p:txBody>
      </p:sp>
      <p:sp>
        <p:nvSpPr>
          <p:cNvPr id="16955972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470150" y="8059583"/>
            <a:ext cx="18443700" cy="1920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82905080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470150" y="28061366"/>
            <a:ext cx="4811400" cy="1611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GB"/>
              <a:t>15/03/2026</a:t>
            </a:fld>
            <a:endParaRPr lang="en-GB"/>
          </a:p>
        </p:txBody>
      </p:sp>
      <p:sp>
        <p:nvSpPr>
          <p:cNvPr id="134529288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7083450" y="28061366"/>
            <a:ext cx="7217099" cy="1611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6365884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5102449" y="28061366"/>
            <a:ext cx="4811400" cy="16119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4949332" name="TextBox 840167882"/>
          <p:cNvSpPr txBox="1"/>
          <p:nvPr/>
        </p:nvSpPr>
        <p:spPr bwMode="auto">
          <a:xfrm>
            <a:off x="347141" y="680355"/>
            <a:ext cx="10839321" cy="5578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Cheat Detection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</a:t>
            </a:r>
            <a:r>
              <a:rPr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 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Competitive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Games Through Machine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Learning </a:t>
            </a:r>
            <a:r>
              <a:rPr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Analysis </a:t>
            </a:r>
            <a:r>
              <a:rPr sz="7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 </a:t>
            </a:r>
            <a:r>
              <a:rPr lang="en-US" sz="7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Player Input Vectors.</a:t>
            </a:r>
            <a:endParaRPr lang="en" sz="7200">
              <a:latin typeface="Times New Roman"/>
              <a:cs typeface="Times New Roman"/>
            </a:endParaRPr>
          </a:p>
        </p:txBody>
      </p:sp>
      <p:pic>
        <p:nvPicPr>
          <p:cNvPr id="2084070539" name="Picture 9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60527" y="1261923"/>
            <a:ext cx="9381860" cy="1677540"/>
          </a:xfrm>
          <a:prstGeom prst="rect">
            <a:avLst/>
          </a:prstGeom>
        </p:spPr>
      </p:pic>
      <p:sp>
        <p:nvSpPr>
          <p:cNvPr id="797253436" name="TextBox 1020149806"/>
          <p:cNvSpPr txBox="1"/>
          <p:nvPr/>
        </p:nvSpPr>
        <p:spPr bwMode="auto">
          <a:xfrm>
            <a:off x="11480860" y="3155539"/>
            <a:ext cx="7766993" cy="2346604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" sz="48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Joseph Troughton </a:t>
            </a:r>
            <a:endParaRPr/>
          </a:p>
          <a:p>
            <a:pPr>
              <a:defRPr/>
            </a:pPr>
            <a:r>
              <a:rPr lang="en" sz="4800">
                <a:latin typeface="Calibri"/>
                <a:ea typeface="Calibri"/>
                <a:cs typeface="Calibri"/>
              </a:rPr>
              <a:t>BSc (Hons) Computer Science </a:t>
            </a:r>
            <a:r>
              <a:rPr lang="en" sz="4800">
                <a:latin typeface="Calibri"/>
                <a:ea typeface="Calibri"/>
                <a:cs typeface="Calibri"/>
              </a:rPr>
              <a:t>Cyber Security</a:t>
            </a:r>
            <a:endParaRPr lang="en" sz="4800">
              <a:latin typeface="Calibri"/>
              <a:ea typeface="Calibri"/>
              <a:cs typeface="Calibri"/>
            </a:endParaRPr>
          </a:p>
        </p:txBody>
      </p:sp>
      <p:sp>
        <p:nvSpPr>
          <p:cNvPr id="1345875255" name="TextBox 1"/>
          <p:cNvSpPr txBox="1"/>
          <p:nvPr/>
        </p:nvSpPr>
        <p:spPr bwMode="auto">
          <a:xfrm>
            <a:off x="335266" y="6339056"/>
            <a:ext cx="9944954" cy="5816977"/>
          </a:xfrm>
          <a:prstGeom prst="rect">
            <a:avLst/>
          </a:prstGeom>
          <a:noFill/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/>
              <a:t>Problem &amp; Motivation</a:t>
            </a:r>
            <a:endParaRPr lang="en-US" sz="2800" b="1"/>
          </a:p>
          <a:p>
            <a:pPr>
              <a:defRPr/>
            </a:pPr>
            <a:r>
              <a:rPr lang="en-US" sz="2400"/>
              <a:t>Problem </a:t>
            </a:r>
            <a:endParaRPr lang="en-US" sz="2400"/>
          </a:p>
          <a:p>
            <a:pPr marL="457200" indent="-457200">
              <a:buFont typeface="Arial"/>
              <a:buChar char="•"/>
              <a:defRPr/>
            </a:pPr>
            <a:r>
              <a:rPr lang="en-US" sz="2400"/>
              <a:t>Cheating remains a major challenge in online competitive games &amp; tournaments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 sz="2400"/>
              <a:t>Modern Aim assist tool can operate externally to the computer meaning no cheat exists on the computer this severely hinders conventional anti-cheats methods</a:t>
            </a:r>
            <a:endParaRPr/>
          </a:p>
          <a:p>
            <a:pPr marL="457200" indent="-457200">
              <a:buFont typeface="Arial"/>
              <a:buChar char="•"/>
              <a:defRPr/>
            </a:pPr>
            <a:r>
              <a:rPr lang="en-US" sz="2400"/>
              <a:t>Competitive </a:t>
            </a:r>
            <a:r>
              <a:rPr lang="en-US" sz="2400"/>
              <a:t>tournaments require reliable wide suite of tools to handle flagging and review of games; both during and after.</a:t>
            </a:r>
            <a:endParaRPr lang="en-US" sz="2400"/>
          </a:p>
          <a:p>
            <a:pPr>
              <a:defRPr/>
            </a:pPr>
            <a:r>
              <a:rPr lang="en-US" sz="2400"/>
              <a:t>Project Goal</a:t>
            </a:r>
            <a:endParaRPr lang="en-US" sz="2400"/>
          </a:p>
          <a:p>
            <a:pPr marL="342900" indent="-342900">
              <a:buFont typeface="Arial"/>
              <a:buChar char="•"/>
              <a:defRPr/>
            </a:pPr>
            <a:r>
              <a:rPr lang="en-US" sz="2400"/>
              <a:t>Develop a machine learning system capable of </a:t>
            </a:r>
            <a:r>
              <a:rPr lang="en-US" sz="2400"/>
              <a:t>analysing</a:t>
            </a:r>
            <a:r>
              <a:rPr lang="en-US" sz="2400"/>
              <a:t> input vectors extracted from gameplay data to analyses </a:t>
            </a:r>
            <a:r>
              <a:rPr lang="en-US" sz="2400">
                <a:ea typeface="+mn-lt"/>
                <a:cs typeface="+mn-lt"/>
              </a:rPr>
              <a:t>suspicious </a:t>
            </a:r>
            <a:r>
              <a:rPr lang="en-US" sz="2400"/>
              <a:t>behaviour</a:t>
            </a:r>
            <a:r>
              <a:rPr lang="en-US" sz="2400"/>
              <a:t> primary in aim</a:t>
            </a:r>
            <a:endParaRPr/>
          </a:p>
          <a:p>
            <a:pPr>
              <a:defRPr/>
            </a:pPr>
            <a:endParaRPr lang="en-US" sz="2800" b="1"/>
          </a:p>
          <a:p>
            <a:pPr>
              <a:defRPr/>
            </a:pPr>
            <a:endParaRPr lang="en-US" sz="2800"/>
          </a:p>
        </p:txBody>
      </p:sp>
      <p:sp>
        <p:nvSpPr>
          <p:cNvPr id="603151727" name="TextBox 2"/>
          <p:cNvSpPr txBox="1"/>
          <p:nvPr/>
        </p:nvSpPr>
        <p:spPr bwMode="auto">
          <a:xfrm>
            <a:off x="11053138" y="6339056"/>
            <a:ext cx="956674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/>
              <a:t>System Diagram </a:t>
            </a:r>
            <a:endParaRPr lang="en-US"/>
          </a:p>
          <a:p>
            <a:pPr>
              <a:defRPr/>
            </a:pPr>
            <a:endParaRPr lang="en-US" sz="2800"/>
          </a:p>
        </p:txBody>
      </p:sp>
      <p:sp>
        <p:nvSpPr>
          <p:cNvPr id="1319601792" name="TextBox 3"/>
          <p:cNvSpPr txBox="1"/>
          <p:nvPr/>
        </p:nvSpPr>
        <p:spPr bwMode="auto">
          <a:xfrm>
            <a:off x="358393" y="11555378"/>
            <a:ext cx="9944954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>
                <a:ea typeface="+mn-lt"/>
                <a:cs typeface="+mn-lt"/>
              </a:rPr>
              <a:t>Feature Extraction </a:t>
            </a:r>
            <a:endParaRPr lang="en-US"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Gameplay demos provide tick-based player state data, including view angles, position and gameplay events.</a:t>
            </a:r>
            <a:endParaRPr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Demo files are parsed using </a:t>
            </a:r>
            <a:r>
              <a:rPr lang="en-US" sz="2400" b="1">
                <a:ea typeface="+mn-lt"/>
                <a:cs typeface="+mn-lt"/>
              </a:rPr>
              <a:t>AWPy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 b="1">
                <a:ea typeface="+mn-lt"/>
                <a:cs typeface="+mn-lt"/>
              </a:rPr>
              <a:t>DemoParse2</a:t>
            </a:r>
            <a:r>
              <a:rPr lang="en-US" sz="2400">
                <a:ea typeface="+mn-lt"/>
                <a:cs typeface="+mn-lt"/>
              </a:rPr>
              <a:t>, producing structured datasets describing player </a:t>
            </a:r>
            <a:r>
              <a:rPr lang="en-US" sz="2400">
                <a:ea typeface="+mn-lt"/>
                <a:cs typeface="+mn-lt"/>
              </a:rPr>
              <a:t>behaviour</a:t>
            </a:r>
            <a:r>
              <a:rPr lang="en-US" sz="2400">
                <a:ea typeface="+mn-lt"/>
                <a:cs typeface="+mn-lt"/>
              </a:rPr>
              <a:t>.</a:t>
            </a:r>
            <a:endParaRPr/>
          </a:p>
          <a:p>
            <a:pPr>
              <a:defRPr/>
            </a:pPr>
            <a:endParaRPr lang="en-US" sz="2400">
              <a:ea typeface="+mn-lt"/>
              <a:cs typeface="+mn-lt"/>
            </a:endParaRPr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From this data several </a:t>
            </a:r>
            <a:r>
              <a:rPr lang="en-US" sz="2400">
                <a:ea typeface="+mn-lt"/>
                <a:cs typeface="+mn-lt"/>
              </a:rPr>
              <a:t>behavioral</a:t>
            </a:r>
            <a:r>
              <a:rPr lang="en-US" sz="2400">
                <a:ea typeface="+mn-lt"/>
                <a:cs typeface="+mn-lt"/>
              </a:rPr>
              <a:t> metrics are extracted:</a:t>
            </a:r>
            <a:endParaRPr lang="en-US" sz="2400"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• Reaction time to enemy appearance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Crosshair alignment with targets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View-angle change rate (aim acceleration)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Snap detection in aiming </a:t>
            </a:r>
            <a:r>
              <a:rPr lang="en-US" sz="2400">
                <a:ea typeface="+mn-lt"/>
                <a:cs typeface="+mn-lt"/>
              </a:rPr>
              <a:t>behaviour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Movement </a:t>
            </a:r>
            <a:r>
              <a:rPr lang="en-US" sz="2400">
                <a:ea typeface="+mn-lt"/>
                <a:cs typeface="+mn-lt"/>
              </a:rPr>
              <a:t>synchronisation</a:t>
            </a:r>
            <a:r>
              <a:rPr lang="en-US" sz="2400">
                <a:ea typeface="+mn-lt"/>
                <a:cs typeface="+mn-lt"/>
              </a:rPr>
              <a:t> (counter-strafing)</a:t>
            </a:r>
            <a:endParaRPr/>
          </a:p>
          <a:p>
            <a:pPr>
              <a:defRPr/>
            </a:pPr>
            <a:endParaRPr lang="en-US" sz="2400">
              <a:ea typeface="+mn-lt"/>
              <a:cs typeface="+mn-lt"/>
            </a:endParaRPr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These metrics form input vectors used by the machine learning model to identify suspicious </a:t>
            </a:r>
            <a:r>
              <a:rPr lang="en-US" sz="2400">
                <a:ea typeface="+mn-lt"/>
                <a:cs typeface="+mn-lt"/>
              </a:rPr>
              <a:t>behaviour</a:t>
            </a:r>
            <a:r>
              <a:rPr lang="en-US" sz="2400">
                <a:ea typeface="+mn-lt"/>
                <a:cs typeface="+mn-lt"/>
              </a:rPr>
              <a:t>.</a:t>
            </a:r>
            <a:endParaRPr/>
          </a:p>
          <a:p>
            <a:pPr>
              <a:defRPr/>
            </a:pPr>
            <a:endParaRPr lang="en-US" sz="2000"/>
          </a:p>
        </p:txBody>
      </p:sp>
      <p:sp>
        <p:nvSpPr>
          <p:cNvPr id="1571931820" name="TextBox 4"/>
          <p:cNvSpPr txBox="1"/>
          <p:nvPr/>
        </p:nvSpPr>
        <p:spPr bwMode="auto">
          <a:xfrm>
            <a:off x="10692804" y="14558370"/>
            <a:ext cx="9944954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/>
              <a:t>Machine Learning Model</a:t>
            </a:r>
            <a:endParaRPr lang="en-US"/>
          </a:p>
          <a:p>
            <a:pPr>
              <a:defRPr/>
            </a:pPr>
            <a:r>
              <a:rPr lang="en-US" sz="2400"/>
              <a:t>The Counter-Strike 2 Cheat Detection Dataset  (CS2CD)was used as a base for training this data, as it has ~1000 Demos that have been converted using Demo Parser 2 into readable files allow for quick deployment and adjustment. </a:t>
            </a:r>
            <a:endParaRPr lang="en-US" sz="2400"/>
          </a:p>
          <a:p>
            <a:pPr>
              <a:defRPr/>
            </a:pPr>
            <a:endParaRPr lang="en-US" sz="2400"/>
          </a:p>
          <a:p>
            <a:pPr>
              <a:defRPr/>
            </a:pPr>
            <a:r>
              <a:rPr lang="en-US" sz="2400"/>
              <a:t>This was used in conjunction with the AI classifier </a:t>
            </a:r>
            <a:r>
              <a:rPr lang="en-US" sz="2400"/>
              <a:t>XGBoost</a:t>
            </a:r>
            <a:r>
              <a:rPr lang="en-US" sz="2400"/>
              <a:t> which is what used to create the models it was chosen because: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 sz="2400">
                <a:ea typeface="+mn-lt"/>
                <a:cs typeface="+mn-lt"/>
              </a:rPr>
              <a:t>Effective for structured datasets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 sz="2400">
                <a:ea typeface="+mn-lt"/>
                <a:cs typeface="+mn-lt"/>
              </a:rPr>
              <a:t> Efficient training and inference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 sz="2400">
                <a:ea typeface="+mn-lt"/>
                <a:cs typeface="+mn-lt"/>
              </a:rPr>
              <a:t>Provides interpretable feature importance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en-US" sz="2400"/>
              <a:t>Supports a wide range of systems and is very lightweight</a:t>
            </a:r>
            <a:endParaRPr lang="en-US" sz="2400"/>
          </a:p>
        </p:txBody>
      </p:sp>
      <p:sp>
        <p:nvSpPr>
          <p:cNvPr id="1669582745" name="TextBox 5"/>
          <p:cNvSpPr txBox="1"/>
          <p:nvPr/>
        </p:nvSpPr>
        <p:spPr bwMode="auto">
          <a:xfrm>
            <a:off x="358393" y="17639578"/>
            <a:ext cx="9944954" cy="54476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/>
              <a:t>Evaluation </a:t>
            </a:r>
            <a:endParaRPr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The system is evaluated using multiple gameplay datasets with both legitimate and cheating players.</a:t>
            </a:r>
            <a:endParaRPr lang="en-US" sz="2400"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Evaluation focuses on:</a:t>
            </a:r>
            <a:endParaRPr lang="en-US" sz="2400"/>
          </a:p>
          <a:p>
            <a:pPr marL="285750" indent="-285750">
              <a:buFont typeface="Arial"/>
              <a:buChar char="•"/>
              <a:defRPr/>
            </a:pPr>
            <a:r>
              <a:rPr lang="en-US" sz="2400">
                <a:ea typeface="+mn-lt"/>
                <a:cs typeface="+mn-lt"/>
              </a:rPr>
              <a:t>classification accuracy</a:t>
            </a:r>
            <a:endParaRPr lang="en-US" sz="2400"/>
          </a:p>
          <a:p>
            <a:pPr marL="285750" indent="-285750">
              <a:buFont typeface="Arial"/>
              <a:buChar char="•"/>
              <a:defRPr/>
            </a:pPr>
            <a:r>
              <a:rPr lang="en-US" sz="2400">
                <a:ea typeface="+mn-lt"/>
                <a:cs typeface="+mn-lt"/>
              </a:rPr>
              <a:t>false positive rate</a:t>
            </a:r>
            <a:endParaRPr lang="en-US" sz="2400"/>
          </a:p>
          <a:p>
            <a:pPr marL="285750" indent="-285750">
              <a:buFont typeface="Arial"/>
              <a:buChar char="•"/>
              <a:defRPr/>
            </a:pPr>
            <a:r>
              <a:rPr lang="en-US" sz="2400">
                <a:ea typeface="+mn-lt"/>
                <a:cs typeface="+mn-lt"/>
              </a:rPr>
              <a:t>performance across different player skill levels</a:t>
            </a:r>
            <a:endParaRPr lang="en-US" sz="2400"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Target performance:</a:t>
            </a:r>
            <a:endParaRPr lang="en-US" sz="2400"/>
          </a:p>
          <a:p>
            <a:pPr>
              <a:defRPr/>
            </a:pPr>
            <a:r>
              <a:rPr lang="en-US" sz="2400">
                <a:latin typeface="Arial"/>
              </a:rPr>
              <a:t>Minimum</a:t>
            </a:r>
            <a:r>
              <a:rPr lang="en-US" sz="2400">
                <a:latin typeface="Arial"/>
              </a:rPr>
              <a:t> of 80% </a:t>
            </a:r>
            <a:endParaRPr/>
          </a:p>
          <a:p>
            <a:pPr>
              <a:defRPr/>
            </a:pPr>
            <a:endParaRPr lang="en-US" sz="2400">
              <a:latin typeface="Arial"/>
              <a:ea typeface="+mn-lt"/>
              <a:cs typeface="+mn-lt"/>
            </a:endParaRPr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Manual review of flagged gameplay events is used to validate model predictions.</a:t>
            </a:r>
            <a:endParaRPr lang="en-US" sz="2400"/>
          </a:p>
          <a:p>
            <a:pPr>
              <a:defRPr/>
            </a:pPr>
            <a:endParaRPr lang="en-US" sz="2800" b="1"/>
          </a:p>
          <a:p>
            <a:pPr>
              <a:defRPr/>
            </a:pPr>
            <a:endParaRPr lang="en-US" sz="2800"/>
          </a:p>
        </p:txBody>
      </p:sp>
      <p:sp>
        <p:nvSpPr>
          <p:cNvPr id="1742064092" name="TextBox 6"/>
          <p:cNvSpPr txBox="1"/>
          <p:nvPr/>
        </p:nvSpPr>
        <p:spPr bwMode="auto">
          <a:xfrm>
            <a:off x="10466947" y="19875015"/>
            <a:ext cx="1005016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/>
              <a:t>Interface</a:t>
            </a:r>
            <a:endParaRPr lang="en-US"/>
          </a:p>
          <a:p>
            <a:pPr>
              <a:defRPr/>
            </a:pPr>
            <a:endParaRPr lang="en-US" sz="2800"/>
          </a:p>
        </p:txBody>
      </p:sp>
      <p:sp>
        <p:nvSpPr>
          <p:cNvPr id="1069464639" name="TextBox 7"/>
          <p:cNvSpPr txBox="1"/>
          <p:nvPr/>
        </p:nvSpPr>
        <p:spPr bwMode="auto">
          <a:xfrm>
            <a:off x="324470" y="22603821"/>
            <a:ext cx="9944954" cy="69249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 b="1"/>
              <a:t>Ethics / Risks</a:t>
            </a:r>
            <a:endParaRPr lang="en-US"/>
          </a:p>
          <a:p>
            <a:pPr>
              <a:defRPr/>
            </a:pPr>
            <a:endParaRPr lang="en-US" sz="2400" b="1"/>
          </a:p>
          <a:p>
            <a:pPr>
              <a:defRPr/>
            </a:pPr>
            <a:r>
              <a:rPr lang="en-US" sz="2400">
                <a:ea typeface="+mn-lt"/>
                <a:cs typeface="+mn-lt"/>
              </a:rPr>
              <a:t>Incorrect detection may result in false accusations against legitimate players, particularly if models are poorly configured or trained on biased data.</a:t>
            </a:r>
            <a:endParaRPr lang="en-US" sz="2400">
              <a:ea typeface="+mn-lt"/>
              <a:cs typeface="+mn-lt"/>
            </a:endParaRPr>
          </a:p>
          <a:p>
            <a:pPr>
              <a:defRPr/>
            </a:pPr>
            <a:r>
              <a:rPr lang="en-US" sz="2400"/>
              <a:t>Key risks include:</a:t>
            </a:r>
            <a:endParaRPr lang="en-US" sz="2400"/>
          </a:p>
          <a:p>
            <a:pPr>
              <a:defRPr/>
            </a:pPr>
            <a:r>
              <a:rPr lang="en-US" sz="2400"/>
              <a:t>• False positives leading to unfair suspicion of legitimate players</a:t>
            </a:r>
            <a:br>
              <a:rPr lang="en-US" sz="2400"/>
            </a:br>
            <a:r>
              <a:rPr lang="en-US" sz="2400"/>
              <a:t> • Dataset bias if training data does not represent different skill levels</a:t>
            </a:r>
            <a:br>
              <a:rPr lang="en-US" sz="2400"/>
            </a:br>
            <a:r>
              <a:rPr lang="en-US" sz="2400"/>
              <a:t> • Data poisoning, where malicious training data could reduce detection accuracy</a:t>
            </a:r>
            <a:br>
              <a:rPr lang="en-US" sz="2400"/>
            </a:br>
            <a:r>
              <a:rPr lang="en-US" sz="2400"/>
              <a:t> • Reverse use, where cheat developers </a:t>
            </a:r>
            <a:r>
              <a:rPr lang="en-US" sz="2400"/>
              <a:t>analyse</a:t>
            </a:r>
            <a:r>
              <a:rPr lang="en-US" sz="2400"/>
              <a:t> the system to avoid detection</a:t>
            </a:r>
            <a:endParaRPr/>
          </a:p>
          <a:p>
            <a:pPr>
              <a:defRPr/>
            </a:pPr>
            <a:endParaRPr lang="en-US" sz="2400"/>
          </a:p>
          <a:p>
            <a:pPr>
              <a:defRPr/>
            </a:pPr>
            <a:r>
              <a:rPr lang="en-US" sz="2400"/>
              <a:t>For these reasons, the system is designed as a decision-support tool to assist human reviewers and enable flagging rather than an automated banning system</a:t>
            </a:r>
            <a:r>
              <a:rPr lang="en-US" sz="2400">
                <a:ea typeface="+mn-lt"/>
                <a:cs typeface="+mn-lt"/>
              </a:rPr>
              <a:t>.</a:t>
            </a:r>
            <a:endParaRPr/>
          </a:p>
          <a:p>
            <a:pPr>
              <a:defRPr/>
            </a:pPr>
            <a:endParaRPr lang="en-US" sz="2800" b="1"/>
          </a:p>
          <a:p>
            <a:pPr>
              <a:defRPr/>
            </a:pPr>
            <a:endParaRPr lang="en-US" sz="2800"/>
          </a:p>
        </p:txBody>
      </p:sp>
      <p:pic>
        <p:nvPicPr>
          <p:cNvPr id="979048839" name="Picture 9" descr="A diagram of a computer&#10;&#10;AI-generated content may be incorrect.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10979306" y="7069233"/>
            <a:ext cx="8731744" cy="6885176"/>
          </a:xfrm>
          <a:prstGeom prst="rect">
            <a:avLst/>
          </a:prstGeom>
        </p:spPr>
      </p:pic>
      <p:pic>
        <p:nvPicPr>
          <p:cNvPr id="2067488646" name="Picture 10" descr="A screenshot of a computer&#10;&#10;AI-generated content may be incorrect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10478645" y="20377032"/>
            <a:ext cx="10714918" cy="58845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317</cp:revision>
  <dcterms:modified xsi:type="dcterms:W3CDTF">2026-04-17T04:27:30Z</dcterms:modified>
</cp:coreProperties>
</file>